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0–15 s. Accroche : SafeLinkHub transforme un MikroTik en WiFi payant clé en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15–30 s. Trois douleurs : config manuelle, encaissement artisanal, gestion à distance bloquée.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30–50 s. La solution : installer, encaisser, piloter.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50–70 s. Trois étapes : connecter, topologie, auto-setup.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70–85 s. Le résultat : encaissement mobile money 24/7, prix en direct, fiable au reboot.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85–90 s. Appel à l'action : safelinkhub.io.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A1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E0A106"/>
                </a:solidFill>
                <a:latin typeface="Calibri"/>
              </a:rPr>
              <a:t>SafeLinkHub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Le WiFi payant, clé en main sur MikroTik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D8D2C7"/>
                </a:solidFill>
                <a:latin typeface="Calibri"/>
              </a:rPr>
              <a:t>Installé automatiquement. Payé par le client. Géré à distance.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E2226"/>
                </a:solidFill>
                <a:latin typeface="Calibri"/>
              </a:rPr>
              <a:t>Le WiFi payant sur MikroTik, sans la galère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920240"/>
            <a:ext cx="457200" cy="457200"/>
          </a:xfrm>
          <a:prstGeom prst="ellipse">
            <a:avLst/>
          </a:prstGeom>
          <a:solidFill>
            <a:srgbClr val="E0A1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22262A"/>
                </a:solidFill>
                <a:latin typeface="Calibri"/>
              </a:rPr>
              <a:t>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87452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E2226"/>
                </a:solidFill>
                <a:latin typeface="Calibri"/>
              </a:rPr>
              <a:t>Config manuelle —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B636B"/>
                </a:solidFill>
                <a:latin typeface="Calibri"/>
              </a:rPr>
              <a:t>Des heures de commandes RouterOS, routeur par routeur.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3200400"/>
            <a:ext cx="457200" cy="457200"/>
          </a:xfrm>
          <a:prstGeom prst="ellipse">
            <a:avLst/>
          </a:prstGeom>
          <a:solidFill>
            <a:srgbClr val="E0A1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22262A"/>
                </a:solidFill>
                <a:latin typeface="Calibri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1546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E2226"/>
                </a:solidFill>
                <a:latin typeface="Calibri"/>
              </a:rPr>
              <a:t>Encaissement artisanal —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B636B"/>
                </a:solidFill>
                <a:latin typeface="Calibri"/>
              </a:rPr>
              <a:t>Vendre des tickets à la main, gérer la monnaie.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4480560"/>
            <a:ext cx="457200" cy="457200"/>
          </a:xfrm>
          <a:prstGeom prst="ellipse">
            <a:avLst/>
          </a:prstGeom>
          <a:solidFill>
            <a:srgbClr val="E0A1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22262A"/>
                </a:solidFill>
                <a:latin typeface="Calibri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443484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E2226"/>
                </a:solidFill>
                <a:latin typeface="Calibri"/>
              </a:rPr>
              <a:t>Gestion bloquée —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B636B"/>
                </a:solidFill>
                <a:latin typeface="Calibri"/>
              </a:rPr>
              <a:t>Pas d'IP publique = pas d'accès à distance.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Une plateforme, trois promesses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8D2C7"/>
                </a:solidFill>
                <a:latin typeface="Calibri"/>
              </a:rPr>
              <a:t>Du carton au client connecté, sans expertise RouterOS.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651760"/>
            <a:ext cx="3401568" cy="3017520"/>
          </a:xfrm>
          <a:prstGeom prst="roundRect">
            <a:avLst>
              <a:gd name="adj" fmla="val 6000"/>
            </a:avLst>
          </a:prstGeom>
          <a:solidFill>
            <a:srgbClr val="2E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720" y="3017520"/>
            <a:ext cx="685800" cy="685800"/>
          </a:xfrm>
          <a:prstGeom prst="ellipse">
            <a:avLst/>
          </a:prstGeom>
          <a:solidFill>
            <a:srgbClr val="E0A1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22262A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023360"/>
            <a:ext cx="267004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2000" b="1">
                <a:solidFill>
                  <a:srgbClr val="F2B82E"/>
                </a:solidFill>
                <a:latin typeface="Calibri"/>
              </a:rPr>
              <a:t>Installer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D8D2C7"/>
                </a:solidFill>
                <a:latin typeface="Calibri"/>
              </a:rPr>
              <a:t>Auto-setup complet en un clic.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2651760"/>
            <a:ext cx="3401568" cy="3017520"/>
          </a:xfrm>
          <a:prstGeom prst="roundRect">
            <a:avLst>
              <a:gd name="adj" fmla="val 6000"/>
            </a:avLst>
          </a:prstGeom>
          <a:solidFill>
            <a:srgbClr val="2E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73168" y="3017520"/>
            <a:ext cx="685800" cy="685800"/>
          </a:xfrm>
          <a:prstGeom prst="ellipse">
            <a:avLst/>
          </a:prstGeom>
          <a:solidFill>
            <a:srgbClr val="E0A1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22262A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73168" y="4023360"/>
            <a:ext cx="267004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2000" b="1">
                <a:solidFill>
                  <a:srgbClr val="F2B82E"/>
                </a:solidFill>
                <a:latin typeface="Calibri"/>
              </a:rPr>
              <a:t>Encaisser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D8D2C7"/>
                </a:solidFill>
                <a:latin typeface="Calibri"/>
              </a:rPr>
              <a:t>Portail captif + Mobile Money.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1856" y="2651760"/>
            <a:ext cx="3401568" cy="3017520"/>
          </a:xfrm>
          <a:prstGeom prst="roundRect">
            <a:avLst>
              <a:gd name="adj" fmla="val 6000"/>
            </a:avLst>
          </a:prstGeom>
          <a:solidFill>
            <a:srgbClr val="2E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57616" y="3017520"/>
            <a:ext cx="685800" cy="685800"/>
          </a:xfrm>
          <a:prstGeom prst="ellipse">
            <a:avLst/>
          </a:prstGeom>
          <a:solidFill>
            <a:srgbClr val="E0A1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22262A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7616" y="4023360"/>
            <a:ext cx="267004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2000" b="1">
                <a:solidFill>
                  <a:srgbClr val="F2B82E"/>
                </a:solidFill>
                <a:latin typeface="Calibri"/>
              </a:rPr>
              <a:t>Piloter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D8D2C7"/>
                </a:solidFill>
                <a:latin typeface="Calibri"/>
              </a:rPr>
              <a:t>Tout le parc géré à distance.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E2226"/>
                </a:solidFill>
                <a:latin typeface="Calibri"/>
              </a:rPr>
              <a:t>Opérationnel en 3 étapes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3630168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97964" y="2331720"/>
            <a:ext cx="914400" cy="914400"/>
          </a:xfrm>
          <a:prstGeom prst="ellipse">
            <a:avLst/>
          </a:prstGeom>
          <a:solidFill>
            <a:srgbClr val="22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000" b="1">
                <a:solidFill>
                  <a:srgbClr val="F2B82E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611880"/>
            <a:ext cx="289864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1900" b="1">
                <a:solidFill>
                  <a:srgbClr val="1E2226"/>
                </a:solidFill>
                <a:latin typeface="Calibri"/>
              </a:rPr>
              <a:t>Connecter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B636B"/>
                </a:solidFill>
                <a:latin typeface="Calibri"/>
              </a:rPr>
              <a:t>Coller le script — un tunnel sécurisé s'installe.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53128" y="1965960"/>
            <a:ext cx="3630168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811012" y="2331720"/>
            <a:ext cx="914400" cy="914400"/>
          </a:xfrm>
          <a:prstGeom prst="ellipse">
            <a:avLst/>
          </a:prstGeom>
          <a:solidFill>
            <a:srgbClr val="22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000" b="1">
                <a:solidFill>
                  <a:srgbClr val="F2B82E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18888" y="3611880"/>
            <a:ext cx="289864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1900" b="1">
                <a:solidFill>
                  <a:srgbClr val="1E2226"/>
                </a:solidFill>
                <a:latin typeface="Calibri"/>
              </a:rPr>
              <a:t>Topologie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B636B"/>
                </a:solidFill>
                <a:latin typeface="Calibri"/>
              </a:rPr>
              <a:t>Choisir le bridge et les ports du WiFi payant.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66175" y="1965960"/>
            <a:ext cx="3630168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24059" y="2331720"/>
            <a:ext cx="914400" cy="914400"/>
          </a:xfrm>
          <a:prstGeom prst="ellipse">
            <a:avLst/>
          </a:prstGeom>
          <a:solidFill>
            <a:srgbClr val="22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000" b="1">
                <a:solidFill>
                  <a:srgbClr val="F2B82E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1936" y="3611880"/>
            <a:ext cx="289864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1900" b="1">
                <a:solidFill>
                  <a:srgbClr val="1E2226"/>
                </a:solidFill>
                <a:latin typeface="Calibri"/>
              </a:rPr>
              <a:t>Auto-setup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B636B"/>
                </a:solidFill>
                <a:latin typeface="Calibri"/>
              </a:rPr>
              <a:t>Nommer le hotspot, cliquer, le routeur redémarre prêt.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Le client paie, vous encaissez — 24/7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8D2C7"/>
                </a:solidFill>
                <a:latin typeface="Calibri"/>
              </a:rPr>
              <a:t>Portail captif à votre marque, paiement Mobile Money intégré.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514600"/>
            <a:ext cx="5230368" cy="1371600"/>
          </a:xfrm>
          <a:prstGeom prst="roundRect">
            <a:avLst>
              <a:gd name="adj" fmla="val 6000"/>
            </a:avLst>
          </a:prstGeom>
          <a:solidFill>
            <a:srgbClr val="2E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" y="2926080"/>
            <a:ext cx="502920" cy="502920"/>
          </a:xfrm>
          <a:prstGeom prst="ellipse">
            <a:avLst/>
          </a:prstGeom>
          <a:solidFill>
            <a:srgbClr val="E0A1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22262A"/>
                </a:solidFill>
                <a:latin typeface="Wingdings"/>
              </a:rPr>
              <a:t>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2770632"/>
            <a:ext cx="3950208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FFFFFF"/>
                </a:solidFill>
                <a:latin typeface="Calibri"/>
              </a:rPr>
              <a:t>Wave · Orange · MTN · Moov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8D2C7"/>
                </a:solidFill>
                <a:latin typeface="Calibri"/>
              </a:rPr>
              <a:t>Paiement automatique, code livré aussitôt.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2514600"/>
            <a:ext cx="5230368" cy="1371600"/>
          </a:xfrm>
          <a:prstGeom prst="roundRect">
            <a:avLst>
              <a:gd name="adj" fmla="val 6000"/>
            </a:avLst>
          </a:prstGeom>
          <a:solidFill>
            <a:srgbClr val="2E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56248" y="2926080"/>
            <a:ext cx="502920" cy="502920"/>
          </a:xfrm>
          <a:prstGeom prst="ellipse">
            <a:avLst/>
          </a:prstGeom>
          <a:solidFill>
            <a:srgbClr val="E0A1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22262A"/>
                </a:solidFill>
                <a:latin typeface="Wingdings"/>
              </a:rPr>
              <a:t>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7768" y="2770632"/>
            <a:ext cx="3950208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FFFFFF"/>
                </a:solidFill>
                <a:latin typeface="Calibri"/>
              </a:rPr>
              <a:t>Prix en direct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8D2C7"/>
                </a:solidFill>
                <a:latin typeface="Calibri"/>
              </a:rPr>
              <a:t>Forfaits synchronisés depuis votre tableau de bord.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087368"/>
            <a:ext cx="5230368" cy="1371600"/>
          </a:xfrm>
          <a:prstGeom prst="roundRect">
            <a:avLst>
              <a:gd name="adj" fmla="val 6000"/>
            </a:avLst>
          </a:prstGeom>
          <a:solidFill>
            <a:srgbClr val="2E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43000" y="4498848"/>
            <a:ext cx="502920" cy="502920"/>
          </a:xfrm>
          <a:prstGeom prst="ellipse">
            <a:avLst/>
          </a:prstGeom>
          <a:solidFill>
            <a:srgbClr val="E0A1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22262A"/>
                </a:solidFill>
                <a:latin typeface="Wingdings"/>
              </a:rPr>
              <a:t>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343400"/>
            <a:ext cx="3950208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FFFFFF"/>
                </a:solidFill>
                <a:latin typeface="Calibri"/>
              </a:rPr>
              <a:t>Sans présence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8D2C7"/>
                </a:solidFill>
                <a:latin typeface="Calibri"/>
              </a:rPr>
              <a:t>Vente la nuit comme le jour, sans comptoir.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4087368"/>
            <a:ext cx="5230368" cy="1371600"/>
          </a:xfrm>
          <a:prstGeom prst="roundRect">
            <a:avLst>
              <a:gd name="adj" fmla="val 6000"/>
            </a:avLst>
          </a:prstGeom>
          <a:solidFill>
            <a:srgbClr val="2E3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56248" y="4498848"/>
            <a:ext cx="502920" cy="502920"/>
          </a:xfrm>
          <a:prstGeom prst="ellipse">
            <a:avLst/>
          </a:prstGeom>
          <a:solidFill>
            <a:srgbClr val="E0A1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22262A"/>
                </a:solidFill>
                <a:latin typeface="Wingdings"/>
              </a:rPr>
              <a:t>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7768" y="4343400"/>
            <a:ext cx="3950208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FFFFFF"/>
                </a:solidFill>
                <a:latin typeface="Calibri"/>
              </a:rPr>
              <a:t>Fiable au reboot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8D2C7"/>
                </a:solidFill>
                <a:latin typeface="Calibri"/>
              </a:rPr>
              <a:t>Session conservée même après une coupure de courant.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A1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20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Lancez votre réseau WiFi payant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D8D2C7"/>
                </a:solidFill>
                <a:latin typeface="Calibri"/>
              </a:rPr>
              <a:t>Branchez, collez, lancez — et laissez vos clients payer tout seuls.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2B82E"/>
                </a:solidFill>
                <a:latin typeface="Calibri"/>
              </a:rPr>
              <a:t>safelinkhub.io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