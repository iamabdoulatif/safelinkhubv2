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d'ouverture. SafeLinkHub transforme un MikroTik en réseau WiFi payant clé en main : hotspot, portail captif, paiement mobile money et gestion à distance, installés automatiquement.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problème : sans plateforme, déployer un hotspot payant demande beaucoup de configuration manuelle, l'encaissement est artisanal, et la gestion à distance est bloquée par l'absence d'IP publique.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solution en trois temps : installer (auto-setup), encaisser (portail + mobile money), piloter (gestion distante). Une plateforme unique.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fonctions clés incluses : auto-setup, portail captif, paiement mobile money, MikHmon, accès distant sécurisé, et gestion multi-routeurs.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parcours d'installation en trois étapes : connecter via tunnel, définir la topologie, lancer l'auto-setup. Le routeur redémarre configuré.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portail captif affiche vos forfaits en direct et encaisse par mobile money. Personnalisable à votre marque, il vend 24h/24 sans présence.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gestion à distance repose sur un tunnel WireGuard : WinBox, WebFig, MikHmon et SSH accessibles sans IP publique. 10 jours de VPN offerts, et alerte si un routeur tombe.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robustesse terrain : session MikHmon persistante sur flash, alerte hors-ligne, auto-réparation à chaque paiement, et détection matérielle en direct.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Compatible avec les MikroTik RouterOS v7 à conteneurs. La plateforme choisit automatiquement le stockage : USB, flash interne persistante, ou disque interne.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cibles : cybercafés et télécentres, quartiers résidentiels et bailleurs, revendeurs et installateurs WiFi.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Conclusion et appel à l'action : commencez dès maintenant sur safelinkhub.io.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32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E0A106"/>
                </a:solidFill>
                <a:latin typeface="Calibri"/>
              </a:rPr>
              <a:t>SafeLinkHub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Le WiFi payant, clé en main sur MikroTik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8D2C7"/>
                </a:solidFill>
                <a:latin typeface="Calibri"/>
              </a:rPr>
              <a:t>Hotspot, portail captif, paiement Mobile Money, vouchers et gestion à distance — installés automatiquement, en trois étapes.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2B82E"/>
                </a:solidFill>
                <a:latin typeface="Calibri"/>
              </a:rPr>
              <a:t>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8D2C7"/>
                </a:solidFill>
                <a:latin typeface="Calibri"/>
              </a:rPr>
              <a:t>étapes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1880" y="502920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2B82E"/>
                </a:solidFill>
                <a:latin typeface="Calibri"/>
              </a:rPr>
              <a:t>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8D2C7"/>
                </a:solidFill>
                <a:latin typeface="Calibri"/>
              </a:rPr>
              <a:t>clic d'auto-setup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502920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2B82E"/>
                </a:solidFill>
                <a:latin typeface="Calibri"/>
              </a:rPr>
              <a:t>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8D2C7"/>
                </a:solidFill>
                <a:latin typeface="Calibri"/>
              </a:rPr>
              <a:t>IP publique requise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502920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2B82E"/>
                </a:solidFill>
                <a:latin typeface="Calibri"/>
              </a:rPr>
              <a:t>10 j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8D2C7"/>
                </a:solidFill>
                <a:latin typeface="Calibri"/>
              </a:rPr>
              <a:t>VPN offert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E2226"/>
                </a:solidFill>
                <a:latin typeface="Calibri"/>
              </a:rPr>
              <a:t>Monter un WiFi payant sur MikroTik, c'est compliqué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36B"/>
                </a:solidFill>
                <a:latin typeface="Calibri"/>
              </a:rPr>
              <a:t>Sans outil dédié, chaque déploiement est long, technique et fragile.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3630168" cy="4023360"/>
          </a:xfrm>
          <a:prstGeom prst="roundRect">
            <a:avLst>
              <a:gd name="adj" fmla="val 6000"/>
            </a:avLst>
          </a:prstGeom>
          <a:solidFill>
            <a:srgbClr val="F3F1EC"/>
          </a:solidFill>
          <a:ln w="12700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" y="2286000"/>
            <a:ext cx="777240" cy="777240"/>
          </a:xfrm>
          <a:prstGeom prst="ellipse">
            <a:avLst/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>
                <a:solidFill>
                  <a:srgbClr val="22262A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37560"/>
            <a:ext cx="280720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1E2226"/>
                </a:solidFill>
                <a:latin typeface="Calibri"/>
              </a:rPr>
              <a:t>Configuration manuelle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B636B"/>
                </a:solidFill>
                <a:latin typeface="Calibri"/>
              </a:rPr>
              <a:t>Hotspot, NAT, walled-garden, MikHmon… des heures de commandes RouterOS, à refaire routeur par routeur.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53128" y="1874519"/>
            <a:ext cx="3630168" cy="4023360"/>
          </a:xfrm>
          <a:prstGeom prst="roundRect">
            <a:avLst>
              <a:gd name="adj" fmla="val 6000"/>
            </a:avLst>
          </a:prstGeom>
          <a:solidFill>
            <a:srgbClr val="F3F1EC"/>
          </a:solidFill>
          <a:ln w="12700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864608" y="2286000"/>
            <a:ext cx="777240" cy="777240"/>
          </a:xfrm>
          <a:prstGeom prst="ellipse">
            <a:avLst/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>
                <a:solidFill>
                  <a:srgbClr val="22262A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64608" y="3337560"/>
            <a:ext cx="280720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1E2226"/>
                </a:solidFill>
                <a:latin typeface="Calibri"/>
              </a:rPr>
              <a:t>Encaisser les clients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B636B"/>
                </a:solidFill>
                <a:latin typeface="Calibri"/>
              </a:rPr>
              <a:t>Vendre des tickets à la main, gérer la monnaie, pas de paiement mobile automatique.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66175" y="1874519"/>
            <a:ext cx="3630168" cy="4023360"/>
          </a:xfrm>
          <a:prstGeom prst="roundRect">
            <a:avLst>
              <a:gd name="adj" fmla="val 6000"/>
            </a:avLst>
          </a:prstGeom>
          <a:solidFill>
            <a:srgbClr val="F3F1EC"/>
          </a:solidFill>
          <a:ln w="12700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77655" y="2286000"/>
            <a:ext cx="777240" cy="777240"/>
          </a:xfrm>
          <a:prstGeom prst="ellipse">
            <a:avLst/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>
                <a:solidFill>
                  <a:srgbClr val="22262A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77655" y="3337560"/>
            <a:ext cx="280720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1E2226"/>
                </a:solidFill>
                <a:latin typeface="Calibri"/>
              </a:rPr>
              <a:t>Gérer à distance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B636B"/>
                </a:solidFill>
                <a:latin typeface="Calibri"/>
              </a:rPr>
              <a:t>Sans IP publique ni ouverture de ports, impossible d'administrer un routeur installé chez un client.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Une seule plateforme, du carton au client connecté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8D2C7"/>
                </a:solidFill>
                <a:latin typeface="Calibri"/>
              </a:rPr>
              <a:t>SafeLinkHub détecte votre MikroTik, le configure entièrement et encaisse vos clients à votre place — vous gardez le contrôle depuis un tableau de bord.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063240"/>
            <a:ext cx="3401568" cy="2926080"/>
          </a:xfrm>
          <a:prstGeom prst="roundRect">
            <a:avLst>
              <a:gd name="adj" fmla="val 6000"/>
            </a:avLst>
          </a:prstGeom>
          <a:solidFill>
            <a:srgbClr val="2E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20" y="3429000"/>
            <a:ext cx="640080" cy="640080"/>
          </a:xfrm>
          <a:prstGeom prst="ellipse">
            <a:avLst/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22262A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343400"/>
            <a:ext cx="267004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900" b="1" i="0">
                <a:solidFill>
                  <a:srgbClr val="F2B82E"/>
                </a:solidFill>
                <a:latin typeface="Calibri"/>
              </a:rPr>
              <a:t>Installer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D8D2C7"/>
                </a:solidFill>
                <a:latin typeface="Calibri"/>
              </a:rPr>
              <a:t>Auto-setup complet du routeur en un clic, sans expertise RouterOS.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3063240"/>
            <a:ext cx="3401568" cy="2926080"/>
          </a:xfrm>
          <a:prstGeom prst="roundRect">
            <a:avLst>
              <a:gd name="adj" fmla="val 6000"/>
            </a:avLst>
          </a:prstGeom>
          <a:solidFill>
            <a:srgbClr val="2E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73168" y="3429000"/>
            <a:ext cx="640080" cy="640080"/>
          </a:xfrm>
          <a:prstGeom prst="ellipse">
            <a:avLst/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22262A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73168" y="4343400"/>
            <a:ext cx="267004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900" b="1" i="0">
                <a:solidFill>
                  <a:srgbClr val="F2B82E"/>
                </a:solidFill>
                <a:latin typeface="Calibri"/>
              </a:rPr>
              <a:t>Encaisser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D8D2C7"/>
                </a:solidFill>
                <a:latin typeface="Calibri"/>
              </a:rPr>
              <a:t>Portail captif + paiement Mobile Money : le client achète son forfait seul.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3063240"/>
            <a:ext cx="3401568" cy="2926080"/>
          </a:xfrm>
          <a:prstGeom prst="roundRect">
            <a:avLst>
              <a:gd name="adj" fmla="val 6000"/>
            </a:avLst>
          </a:prstGeom>
          <a:solidFill>
            <a:srgbClr val="2E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57616" y="3429000"/>
            <a:ext cx="640080" cy="640080"/>
          </a:xfrm>
          <a:prstGeom prst="ellipse">
            <a:avLst/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22262A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7616" y="4343400"/>
            <a:ext cx="267004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900" b="1" i="0">
                <a:solidFill>
                  <a:srgbClr val="F2B82E"/>
                </a:solidFill>
                <a:latin typeface="Calibri"/>
              </a:rPr>
              <a:t>Piloter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D8D2C7"/>
                </a:solidFill>
                <a:latin typeface="Calibri"/>
              </a:rPr>
              <a:t>Tout le parc géré et dépanné à distance, par tunnel sécurisé.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E2226"/>
                </a:solidFill>
                <a:latin typeface="Calibri"/>
              </a:rPr>
              <a:t>Tout ce qu'il faut, déjà inclus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3630168" cy="2103120"/>
          </a:xfrm>
          <a:prstGeom prst="roundRect">
            <a:avLst>
              <a:gd name="adj" fmla="val 6000"/>
            </a:avLst>
          </a:prstGeom>
          <a:solidFill>
            <a:srgbClr val="F3F1EC"/>
          </a:solidFill>
          <a:ln w="12700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19" y="1856231"/>
            <a:ext cx="566928" cy="566928"/>
          </a:xfrm>
          <a:prstGeom prst="ellipse">
            <a:avLst/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22262A"/>
                </a:solidFill>
                <a:latin typeface="Calibri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819656"/>
            <a:ext cx="2304288" cy="1554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1E2226"/>
                </a:solidFill>
                <a:latin typeface="Calibri"/>
              </a:rPr>
              <a:t>Auto-setup complet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36B"/>
                </a:solidFill>
                <a:latin typeface="Calibri"/>
              </a:rPr>
              <a:t>Hotspot, portail, profils voucher, MikHmon et NAT configurés automatiquement.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53128" y="1508760"/>
            <a:ext cx="3630168" cy="2103120"/>
          </a:xfrm>
          <a:prstGeom prst="roundRect">
            <a:avLst>
              <a:gd name="adj" fmla="val 6000"/>
            </a:avLst>
          </a:prstGeom>
          <a:solidFill>
            <a:srgbClr val="F3F1EC"/>
          </a:solidFill>
          <a:ln w="12700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73168" y="1856231"/>
            <a:ext cx="566928" cy="566928"/>
          </a:xfrm>
          <a:prstGeom prst="ellipse">
            <a:avLst/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22262A"/>
                </a:solidFill>
                <a:latin typeface="Calibri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50408" y="1819656"/>
            <a:ext cx="2304288" cy="1554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1E2226"/>
                </a:solidFill>
                <a:latin typeface="Calibri"/>
              </a:rPr>
              <a:t>Portail captif intégré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36B"/>
                </a:solidFill>
                <a:latin typeface="Calibri"/>
              </a:rPr>
              <a:t>Page de connexion moderne, prix des forfaits en direct, à votre nom et logo.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66175" y="1508760"/>
            <a:ext cx="3630168" cy="2103120"/>
          </a:xfrm>
          <a:prstGeom prst="roundRect">
            <a:avLst>
              <a:gd name="adj" fmla="val 6000"/>
            </a:avLst>
          </a:prstGeom>
          <a:solidFill>
            <a:srgbClr val="F3F1EC"/>
          </a:solidFill>
          <a:ln w="12700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86215" y="1856231"/>
            <a:ext cx="566928" cy="566928"/>
          </a:xfrm>
          <a:prstGeom prst="ellipse">
            <a:avLst/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22262A"/>
                </a:solidFill>
                <a:latin typeface="Calibri"/>
              </a:rPr>
              <a:t>$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63455" y="1819656"/>
            <a:ext cx="2304288" cy="1554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1E2226"/>
                </a:solidFill>
                <a:latin typeface="Calibri"/>
              </a:rPr>
              <a:t>Paiement Mobile Money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36B"/>
                </a:solidFill>
                <a:latin typeface="Calibri"/>
              </a:rPr>
              <a:t>Wave, Orange, MTN, Moov ou carte — encaissement automatique 24/7.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94760"/>
            <a:ext cx="3630168" cy="2103120"/>
          </a:xfrm>
          <a:prstGeom prst="roundRect">
            <a:avLst>
              <a:gd name="adj" fmla="val 6000"/>
            </a:avLst>
          </a:prstGeom>
          <a:solidFill>
            <a:srgbClr val="F3F1EC"/>
          </a:solidFill>
          <a:ln w="12700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19" y="4142232"/>
            <a:ext cx="566928" cy="566928"/>
          </a:xfrm>
          <a:prstGeom prst="ellipse">
            <a:avLst/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22262A"/>
                </a:solidFill>
                <a:latin typeface="Calibri"/>
              </a:rPr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105656"/>
            <a:ext cx="2304288" cy="1554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1E2226"/>
                </a:solidFill>
                <a:latin typeface="Calibri"/>
              </a:rPr>
              <a:t>MikHmon inclus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36B"/>
                </a:solidFill>
                <a:latin typeface="Calibri"/>
              </a:rPr>
              <a:t>Vouchers, vendeurs et suivi — installé dans un conteneur et lié tout seul.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53128" y="3794760"/>
            <a:ext cx="3630168" cy="2103120"/>
          </a:xfrm>
          <a:prstGeom prst="roundRect">
            <a:avLst>
              <a:gd name="adj" fmla="val 6000"/>
            </a:avLst>
          </a:prstGeom>
          <a:solidFill>
            <a:srgbClr val="F3F1EC"/>
          </a:solidFill>
          <a:ln w="12700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73168" y="4142232"/>
            <a:ext cx="566928" cy="566928"/>
          </a:xfrm>
          <a:prstGeom prst="ellipse">
            <a:avLst/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22262A"/>
                </a:solidFill>
                <a:latin typeface="Calibri"/>
              </a:rPr>
              <a:t>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50408" y="4105656"/>
            <a:ext cx="2304288" cy="1554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1E2226"/>
                </a:solidFill>
                <a:latin typeface="Calibri"/>
              </a:rPr>
              <a:t>Accès distant sécurisé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36B"/>
                </a:solidFill>
                <a:latin typeface="Calibri"/>
              </a:rPr>
              <a:t>WinBox, WebFig, MikHmon, SSH par tunnel WireGuard, sans IP publique.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66175" y="3794760"/>
            <a:ext cx="3630168" cy="2103120"/>
          </a:xfrm>
          <a:prstGeom prst="roundRect">
            <a:avLst>
              <a:gd name="adj" fmla="val 6000"/>
            </a:avLst>
          </a:prstGeom>
          <a:solidFill>
            <a:srgbClr val="F3F1EC"/>
          </a:solidFill>
          <a:ln w="12700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86215" y="4142232"/>
            <a:ext cx="566928" cy="566928"/>
          </a:xfrm>
          <a:prstGeom prst="ellipse">
            <a:avLst/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22262A"/>
                </a:solidFill>
                <a:latin typeface="Calibri"/>
              </a:rPr>
              <a:t>=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5" y="4105656"/>
            <a:ext cx="2304288" cy="1554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1E2226"/>
                </a:solidFill>
                <a:latin typeface="Calibri"/>
              </a:rPr>
              <a:t>Multi-routeurs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36B"/>
                </a:solidFill>
                <a:latin typeface="Calibri"/>
              </a:rPr>
              <a:t>Gérez tout votre parc MikroTik depuis un seul tableau de bord.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E2226"/>
                </a:solidFill>
                <a:latin typeface="Calibri"/>
              </a:rPr>
              <a:t>De l'appareil neuf au portail en 3 étapes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36B"/>
                </a:solidFill>
                <a:latin typeface="Calibri"/>
              </a:rPr>
              <a:t>Aucune ligne de commande à écrire — vous copiez, vous collez, vous lancez.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3630168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97964" y="2331720"/>
            <a:ext cx="914400" cy="914400"/>
          </a:xfrm>
          <a:prstGeom prst="ellipse">
            <a:avLst/>
          </a:prstGeom>
          <a:solidFill>
            <a:srgbClr val="22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000" b="1">
                <a:solidFill>
                  <a:srgbClr val="F2B82E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611880"/>
            <a:ext cx="289864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1E2226"/>
                </a:solidFill>
                <a:latin typeface="Calibri"/>
              </a:rPr>
              <a:t>Connecter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36B"/>
                </a:solidFill>
                <a:latin typeface="Calibri"/>
              </a:rPr>
              <a:t>Générez le script depuis la plateforme et collez-le dans le terminal MikroTik. Un tunnel WireGuard s'installe — pas de config réseau.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53128" y="1965960"/>
            <a:ext cx="3630168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811012" y="2331720"/>
            <a:ext cx="914400" cy="914400"/>
          </a:xfrm>
          <a:prstGeom prst="ellipse">
            <a:avLst/>
          </a:prstGeom>
          <a:solidFill>
            <a:srgbClr val="22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000" b="1">
                <a:solidFill>
                  <a:srgbClr val="F2B82E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18888" y="3611880"/>
            <a:ext cx="289864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1E2226"/>
                </a:solidFill>
                <a:latin typeface="Calibri"/>
              </a:rPr>
              <a:t>Topologie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36B"/>
                </a:solidFill>
                <a:latin typeface="Calibri"/>
              </a:rPr>
              <a:t>Choisissez le bridge et les ports qui diffuseront le WiFi payant. La plateforme détecte le matériel (WiFi, stockage, mode).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66175" y="1965960"/>
            <a:ext cx="3630168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24059" y="2331720"/>
            <a:ext cx="914400" cy="914400"/>
          </a:xfrm>
          <a:prstGeom prst="ellipse">
            <a:avLst/>
          </a:prstGeom>
          <a:solidFill>
            <a:srgbClr val="22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000" b="1">
                <a:solidFill>
                  <a:srgbClr val="F2B82E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1936" y="3611880"/>
            <a:ext cx="289864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1E2226"/>
                </a:solidFill>
                <a:latin typeface="Calibri"/>
              </a:rPr>
              <a:t>Auto-setup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36B"/>
                </a:solidFill>
                <a:latin typeface="Calibri"/>
              </a:rPr>
              <a:t>Nommez le hotspot : SSID et domaine se remplissent seuls. Cliquez « Lancer l'auto-setup complet » — le routeur redémarre, prêt.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E2226"/>
                </a:solidFill>
                <a:latin typeface="Calibri"/>
              </a:rPr>
              <a:t>Le client achète son forfait, tout seul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36B"/>
                </a:solidFill>
                <a:latin typeface="Calibri"/>
              </a:rPr>
              <a:t>Un portail captif à votre marque, avec paiement mobile money intégré.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120640" cy="4114800"/>
          </a:xfrm>
          <a:prstGeom prst="roundRect">
            <a:avLst>
              <a:gd name="adj" fmla="val 6000"/>
            </a:avLst>
          </a:prstGeom>
          <a:solidFill>
            <a:srgbClr val="22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4389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VOTRE-WIFI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8D2C7"/>
                </a:solidFill>
                <a:latin typeface="Calibri"/>
              </a:rPr>
              <a:t>Connexion Internet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3063240"/>
            <a:ext cx="4389120" cy="621792"/>
          </a:xfrm>
          <a:prstGeom prst="roundRect">
            <a:avLst>
              <a:gd name="adj" fmla="val 6000"/>
            </a:avLst>
          </a:prstGeom>
          <a:solidFill>
            <a:srgbClr val="2E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3145536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3145536"/>
            <a:ext cx="1600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2B82E"/>
                </a:solidFill>
                <a:latin typeface="Calibri"/>
              </a:rPr>
              <a:t>100 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794760"/>
            <a:ext cx="4389120" cy="621792"/>
          </a:xfrm>
          <a:prstGeom prst="roundRect">
            <a:avLst>
              <a:gd name="adj" fmla="val 6000"/>
            </a:avLst>
          </a:prstGeom>
          <a:solidFill>
            <a:srgbClr val="2E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877056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24 heures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877056"/>
            <a:ext cx="1600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2B82E"/>
                </a:solidFill>
                <a:latin typeface="Calibri"/>
              </a:rPr>
              <a:t>300 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4526280"/>
            <a:ext cx="4389120" cy="621792"/>
          </a:xfrm>
          <a:prstGeom prst="roundRect">
            <a:avLst>
              <a:gd name="adj" fmla="val 6000"/>
            </a:avLst>
          </a:prstGeom>
          <a:solidFill>
            <a:srgbClr val="2E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608576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7 jours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608576"/>
            <a:ext cx="1600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2B82E"/>
                </a:solidFill>
                <a:latin typeface="Calibri"/>
              </a:rPr>
              <a:t>1 000 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5303520"/>
            <a:ext cx="4389120" cy="530352"/>
          </a:xfrm>
          <a:prstGeom prst="roundRect">
            <a:avLst>
              <a:gd name="adj" fmla="val 6000"/>
            </a:avLst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303520"/>
            <a:ext cx="4389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262A"/>
                </a:solidFill>
                <a:latin typeface="Calibri"/>
              </a:rPr>
              <a:t>Payer et se connecter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1920239"/>
            <a:ext cx="457200" cy="457200"/>
          </a:xfrm>
          <a:prstGeom prst="ellipse">
            <a:avLst/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22262A"/>
                </a:solidFill>
                <a:latin typeface="Wingdings"/>
              </a:rPr>
              <a:t>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1874519"/>
            <a:ext cx="5303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1E2226"/>
                </a:solidFill>
                <a:latin typeface="Calibri"/>
              </a:rPr>
              <a:t>Prix toujours à jour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6B"/>
                </a:solidFill>
                <a:latin typeface="Calibri"/>
              </a:rPr>
              <a:t>Les forfaits affichés viennent en direct de votre tableau de bord.</a:t>
            </a:r>
          </a:p>
        </p:txBody>
      </p:sp>
      <p:sp>
        <p:nvSpPr>
          <p:cNvPr id="19" name="Oval 18"/>
          <p:cNvSpPr/>
          <p:nvPr/>
        </p:nvSpPr>
        <p:spPr>
          <a:xfrm>
            <a:off x="6126480" y="2944368"/>
            <a:ext cx="457200" cy="457200"/>
          </a:xfrm>
          <a:prstGeom prst="ellipse">
            <a:avLst/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22262A"/>
                </a:solidFill>
                <a:latin typeface="Wingdings"/>
              </a:rPr>
              <a:t>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898648"/>
            <a:ext cx="5303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1E2226"/>
                </a:solidFill>
                <a:latin typeface="Calibri"/>
              </a:rPr>
              <a:t>Paiement automatique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6B"/>
                </a:solidFill>
                <a:latin typeface="Calibri"/>
              </a:rPr>
              <a:t>Wave, Orange, MTN, Moov ou carte — le code d'accès est livré aussitôt.</a:t>
            </a:r>
          </a:p>
        </p:txBody>
      </p:sp>
      <p:sp>
        <p:nvSpPr>
          <p:cNvPr id="21" name="Oval 20"/>
          <p:cNvSpPr/>
          <p:nvPr/>
        </p:nvSpPr>
        <p:spPr>
          <a:xfrm>
            <a:off x="6126480" y="3968496"/>
            <a:ext cx="457200" cy="457200"/>
          </a:xfrm>
          <a:prstGeom prst="ellipse">
            <a:avLst/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22262A"/>
                </a:solidFill>
                <a:latin typeface="Wingdings"/>
              </a:rPr>
              <a:t>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3922776"/>
            <a:ext cx="5303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1E2226"/>
                </a:solidFill>
                <a:latin typeface="Calibri"/>
              </a:rPr>
              <a:t>À votre image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6B"/>
                </a:solidFill>
                <a:latin typeface="Calibri"/>
              </a:rPr>
              <a:t>Logo, nom, numéro et couleurs personnalisables sur le portail.</a:t>
            </a:r>
          </a:p>
        </p:txBody>
      </p:sp>
      <p:sp>
        <p:nvSpPr>
          <p:cNvPr id="23" name="Oval 22"/>
          <p:cNvSpPr/>
          <p:nvPr/>
        </p:nvSpPr>
        <p:spPr>
          <a:xfrm>
            <a:off x="6126480" y="4992624"/>
            <a:ext cx="457200" cy="457200"/>
          </a:xfrm>
          <a:prstGeom prst="ellipse">
            <a:avLst/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22262A"/>
                </a:solidFill>
                <a:latin typeface="Wingdings"/>
              </a:rPr>
              <a:t>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4946904"/>
            <a:ext cx="5303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1E2226"/>
                </a:solidFill>
                <a:latin typeface="Calibri"/>
              </a:rPr>
              <a:t>Zéro présence requise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6B"/>
                </a:solidFill>
                <a:latin typeface="Calibri"/>
              </a:rPr>
              <a:t>Vente 24/7, même la nuit : plus besoin d'être derrière le comptoir.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Vos routeurs, où qu'ils soient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8D2C7"/>
                </a:solidFill>
                <a:latin typeface="Calibri"/>
              </a:rPr>
              <a:t>Un tunnel WireGuard relie chaque MikroTik à SafeLinkHub. Vous administrez à distance, sans IP publique ni redirection de port.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834640"/>
            <a:ext cx="2615184" cy="2011680"/>
          </a:xfrm>
          <a:prstGeom prst="roundRect">
            <a:avLst>
              <a:gd name="adj" fmla="val 6000"/>
            </a:avLst>
          </a:prstGeom>
          <a:solidFill>
            <a:srgbClr val="2E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154680"/>
            <a:ext cx="2066543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2B82E"/>
                </a:solidFill>
                <a:latin typeface="Calibri"/>
              </a:rPr>
              <a:t>WinBox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8D2C7"/>
                </a:solidFill>
                <a:latin typeface="Calibri"/>
              </a:rPr>
              <a:t>Config complète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79" y="2834640"/>
            <a:ext cx="2615184" cy="2011680"/>
          </a:xfrm>
          <a:prstGeom prst="roundRect">
            <a:avLst>
              <a:gd name="adj" fmla="val 6000"/>
            </a:avLst>
          </a:prstGeom>
          <a:solidFill>
            <a:srgbClr val="2E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86200" y="3154680"/>
            <a:ext cx="2066543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2B82E"/>
                </a:solidFill>
                <a:latin typeface="Calibri"/>
              </a:rPr>
              <a:t>WebFig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8D2C7"/>
                </a:solidFill>
                <a:latin typeface="Calibri"/>
              </a:rPr>
              <a:t>Interface web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2615184" cy="2011680"/>
          </a:xfrm>
          <a:prstGeom prst="roundRect">
            <a:avLst>
              <a:gd name="adj" fmla="val 6000"/>
            </a:avLst>
          </a:prstGeom>
          <a:solidFill>
            <a:srgbClr val="2E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154680"/>
            <a:ext cx="2066543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2B82E"/>
                </a:solidFill>
                <a:latin typeface="Calibri"/>
              </a:rPr>
              <a:t>MikHmon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8D2C7"/>
                </a:solidFill>
                <a:latin typeface="Calibri"/>
              </a:rPr>
              <a:t>Vouchers &amp; ventes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9720" y="2834640"/>
            <a:ext cx="2615184" cy="2011680"/>
          </a:xfrm>
          <a:prstGeom prst="roundRect">
            <a:avLst>
              <a:gd name="adj" fmla="val 6000"/>
            </a:avLst>
          </a:prstGeom>
          <a:solidFill>
            <a:srgbClr val="2E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64040" y="3154680"/>
            <a:ext cx="2066543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2B82E"/>
                </a:solidFill>
                <a:latin typeface="Calibri"/>
              </a:rPr>
              <a:t>SSH / FTP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8D2C7"/>
                </a:solidFill>
                <a:latin typeface="Calibri"/>
              </a:rPr>
              <a:t>Terminal &amp; fichiers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2120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2B82E"/>
                </a:solidFill>
                <a:latin typeface="Calibri"/>
              </a:rPr>
              <a:t>Inclus : 10 jours d'accès VPN offerts dès l'inscription · alerte e-mail automatique si un routeur passe hors-ligne.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E2226"/>
                </a:solidFill>
                <a:latin typeface="Calibri"/>
              </a:rPr>
              <a:t>Pensé pour tenir sur le terrain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36B"/>
                </a:solidFill>
                <a:latin typeface="Calibri"/>
              </a:rPr>
              <a:t>Coupures de courant, réseaux instables, matériel varié : la plateforme s'adapte.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458968" cy="1920240"/>
          </a:xfrm>
          <a:prstGeom prst="roundRect">
            <a:avLst>
              <a:gd name="adj" fmla="val 6000"/>
            </a:avLst>
          </a:prstGeom>
          <a:solidFill>
            <a:srgbClr val="F3F1EC"/>
          </a:solidFill>
          <a:ln w="12700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2121408"/>
            <a:ext cx="548640" cy="54864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Wingdings"/>
              </a:rPr>
              <a:t>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2066543"/>
            <a:ext cx="404164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1E2226"/>
                </a:solidFill>
                <a:latin typeface="Calibri"/>
              </a:rPr>
              <a:t>Session qui survit aux coupures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6B"/>
                </a:solidFill>
                <a:latin typeface="Calibri"/>
              </a:rPr>
              <a:t>Sur hAP ax lite / ax², MikHmon est installé sur la flash interne : la session reste intacte après une coupure de courant.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737360"/>
            <a:ext cx="5458968" cy="1920240"/>
          </a:xfrm>
          <a:prstGeom prst="roundRect">
            <a:avLst>
              <a:gd name="adj" fmla="val 6000"/>
            </a:avLst>
          </a:prstGeom>
          <a:solidFill>
            <a:srgbClr val="F3F1EC"/>
          </a:solidFill>
          <a:ln w="12700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38544" y="2121408"/>
            <a:ext cx="548640" cy="54864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Wingdings"/>
              </a:rPr>
              <a:t>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15783" y="2066543"/>
            <a:ext cx="404164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1E2226"/>
                </a:solidFill>
                <a:latin typeface="Calibri"/>
              </a:rPr>
              <a:t>Alerte hors-ligne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6B"/>
                </a:solidFill>
                <a:latin typeface="Calibri"/>
              </a:rPr>
              <a:t>Un e-mail prévient automatiquement toute l'équipe dès qu'un routeur se déconnecte, pour intervenir vite.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40480"/>
            <a:ext cx="5458968" cy="1920240"/>
          </a:xfrm>
          <a:prstGeom prst="roundRect">
            <a:avLst>
              <a:gd name="adj" fmla="val 6000"/>
            </a:avLst>
          </a:prstGeom>
          <a:solidFill>
            <a:srgbClr val="F3F1EC"/>
          </a:solidFill>
          <a:ln w="12700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4224528"/>
            <a:ext cx="548640" cy="54864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Wingdings"/>
              </a:rPr>
              <a:t>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169664"/>
            <a:ext cx="404164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1E2226"/>
                </a:solidFill>
                <a:latin typeface="Calibri"/>
              </a:rPr>
              <a:t>Auto-réparation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6B"/>
                </a:solidFill>
                <a:latin typeface="Calibri"/>
              </a:rPr>
              <a:t>À chaque paiement, walled-garden, profils et connexion sont re-synchronisés — le hotspot se répare tout seul.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3840480"/>
            <a:ext cx="5458968" cy="1920240"/>
          </a:xfrm>
          <a:prstGeom prst="roundRect">
            <a:avLst>
              <a:gd name="adj" fmla="val 6000"/>
            </a:avLst>
          </a:prstGeom>
          <a:solidFill>
            <a:srgbClr val="F3F1EC"/>
          </a:solidFill>
          <a:ln w="12700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38544" y="4224528"/>
            <a:ext cx="548640" cy="54864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Wingdings"/>
              </a:rPr>
              <a:t>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15783" y="4169664"/>
            <a:ext cx="404164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1E2226"/>
                </a:solidFill>
                <a:latin typeface="Calibri"/>
              </a:rPr>
              <a:t>Détection matérielle en direct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6B"/>
                </a:solidFill>
                <a:latin typeface="Calibri"/>
              </a:rPr>
              <a:t>Stockage, WiFi et mode de l'appareil sont détectés sur place : la bonne configuration, pour chaque modèle.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E2226"/>
                </a:solidFill>
                <a:latin typeface="Calibri"/>
              </a:rPr>
              <a:t>Compatible avec votre parc MikroTik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36B"/>
                </a:solidFill>
                <a:latin typeface="Calibri"/>
              </a:rPr>
              <a:t>RouterOS v7 avec conteneurs — la plateforme choisit seule le bon mode de stockage.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F3F1EC"/>
          </a:solidFill>
          <a:ln w="12700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484632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E0A106"/>
                </a:solidFill>
                <a:latin typeface="Calibri"/>
              </a:rPr>
              <a:t>MODÈLES COURANTS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1E2226"/>
                </a:solidFill>
                <a:latin typeface="Calibri"/>
              </a:rPr>
              <a:t>•  hAP ax lite · ax² · ax³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1E2226"/>
                </a:solidFill>
                <a:latin typeface="Calibri"/>
              </a:rPr>
              <a:t>•  RB4011 · RB5009 · RB3011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1E2226"/>
                </a:solidFill>
                <a:latin typeface="Calibri"/>
              </a:rPr>
              <a:t>•  hEX · Chateau · L009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1E2226"/>
                </a:solidFill>
                <a:latin typeface="Calibri"/>
              </a:rPr>
              <a:t>•  … et tout MikroTik RouterOS v7 compatible conteneurs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212080" cy="4023360"/>
          </a:xfrm>
          <a:prstGeom prst="roundRect">
            <a:avLst>
              <a:gd name="adj" fmla="val 6000"/>
            </a:avLst>
          </a:prstGeom>
          <a:solidFill>
            <a:srgbClr val="22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2148840"/>
            <a:ext cx="45720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F2B82E"/>
                </a:solidFill>
                <a:latin typeface="Calibri"/>
              </a:rPr>
              <a:t>STOCKAGE AUTO-DÉTECTÉ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Clé USB / microSD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D8D2C7"/>
                </a:solidFill>
                <a:latin typeface="Calibri"/>
              </a:rPr>
              <a:t>quand le board en a une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Flash interne (NAND)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D8D2C7"/>
                </a:solidFill>
                <a:latin typeface="Calibri"/>
              </a:rPr>
              <a:t>ax lite / ax² — persistant au reboot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Disque interne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D8D2C7"/>
                </a:solidFill>
                <a:latin typeface="Calibri"/>
              </a:rPr>
              <a:t>RB4011, RB5009, CCR…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E2226"/>
                </a:solidFill>
                <a:latin typeface="Calibri"/>
              </a:rPr>
              <a:t>Pour qui 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630168" cy="3840480"/>
          </a:xfrm>
          <a:prstGeom prst="roundRect">
            <a:avLst>
              <a:gd name="adj" fmla="val 6000"/>
            </a:avLst>
          </a:prstGeom>
          <a:solidFill>
            <a:srgbClr val="F3F1EC"/>
          </a:solidFill>
          <a:ln w="12700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" y="2240280"/>
            <a:ext cx="822960" cy="822960"/>
          </a:xfrm>
          <a:prstGeom prst="ellipse">
            <a:avLst/>
          </a:prstGeom>
          <a:solidFill>
            <a:srgbClr val="22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>
                <a:solidFill>
                  <a:srgbClr val="F2B82E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83280"/>
            <a:ext cx="280720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1E2226"/>
                </a:solidFill>
                <a:latin typeface="Calibri"/>
              </a:rPr>
              <a:t>Cybercafés &amp; télécentres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B636B"/>
                </a:solidFill>
                <a:latin typeface="Calibri"/>
              </a:rPr>
              <a:t>Vendez l'accès WiFi au ticket, sans gérer la monnaie ni les comptes à la main.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53128" y="1828800"/>
            <a:ext cx="3630168" cy="3840480"/>
          </a:xfrm>
          <a:prstGeom prst="roundRect">
            <a:avLst>
              <a:gd name="adj" fmla="val 6000"/>
            </a:avLst>
          </a:prstGeom>
          <a:solidFill>
            <a:srgbClr val="F3F1EC"/>
          </a:solidFill>
          <a:ln w="12700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864608" y="2240280"/>
            <a:ext cx="822960" cy="822960"/>
          </a:xfrm>
          <a:prstGeom prst="ellipse">
            <a:avLst/>
          </a:prstGeom>
          <a:solidFill>
            <a:srgbClr val="22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>
                <a:solidFill>
                  <a:srgbClr val="F2B82E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64608" y="3383280"/>
            <a:ext cx="280720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1E2226"/>
                </a:solidFill>
                <a:latin typeface="Calibri"/>
              </a:rPr>
              <a:t>Quartiers &amp; bailleurs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B636B"/>
                </a:solidFill>
                <a:latin typeface="Calibri"/>
              </a:rPr>
              <a:t>Rentabilisez une connexion partagée : chaque voisin paie son forfait depuis son téléphone.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66175" y="1828800"/>
            <a:ext cx="3630168" cy="3840480"/>
          </a:xfrm>
          <a:prstGeom prst="roundRect">
            <a:avLst>
              <a:gd name="adj" fmla="val 6000"/>
            </a:avLst>
          </a:prstGeom>
          <a:solidFill>
            <a:srgbClr val="F3F1EC"/>
          </a:solidFill>
          <a:ln w="12700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77655" y="2240280"/>
            <a:ext cx="822960" cy="822960"/>
          </a:xfrm>
          <a:prstGeom prst="ellipse">
            <a:avLst/>
          </a:prstGeom>
          <a:solidFill>
            <a:srgbClr val="22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>
                <a:solidFill>
                  <a:srgbClr val="F2B82E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77655" y="3383280"/>
            <a:ext cx="280720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1E2226"/>
                </a:solidFill>
                <a:latin typeface="Calibri"/>
              </a:rPr>
              <a:t>Revendeurs &amp; installateurs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B636B"/>
                </a:solidFill>
                <a:latin typeface="Calibri"/>
              </a:rPr>
              <a:t>Déployez des dizaines de sites rapidement et pilotez-les tous à distance.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Lancez votre réseau WiFi payant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8D2C7"/>
                </a:solidFill>
                <a:latin typeface="Calibri"/>
              </a:rPr>
              <a:t>Branchez un MikroTik, collez le script, lancez l'auto-setup — et laissez vos clients payer et se connecter tout seuls.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2B82E"/>
                </a:solidFill>
                <a:latin typeface="Calibri"/>
              </a:rPr>
              <a:t>safelinkhub.io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